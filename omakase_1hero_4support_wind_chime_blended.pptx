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87552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xed.deco_circle_top"/>
          <p:cNvSpPr/>
          <p:nvPr/>
        </p:nvSpPr>
        <p:spPr>
          <a:xfrm>
            <a:off x="1947672" y="-338328"/>
            <a:ext cx="1737360" cy="1737360"/>
          </a:xfrm>
          <a:prstGeom prst="ellipse">
            <a:avLst/>
          </a:prstGeom>
          <a:solidFill>
            <a:srgbClr val="C7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xed.deco_circle_bottom"/>
          <p:cNvSpPr/>
          <p:nvPr/>
        </p:nvSpPr>
        <p:spPr>
          <a:xfrm>
            <a:off x="-201168" y="10195560"/>
            <a:ext cx="3584448" cy="3584448"/>
          </a:xfrm>
          <a:prstGeom prst="ellipse">
            <a:avLst/>
          </a:prstGeom>
          <a:solidFill>
            <a:srgbClr val="DD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xed.deco_bottom_blob"/>
          <p:cNvSpPr/>
          <p:nvPr/>
        </p:nvSpPr>
        <p:spPr>
          <a:xfrm>
            <a:off x="6949440" y="11777472"/>
            <a:ext cx="2926080" cy="566928"/>
          </a:xfrm>
          <a:prstGeom prst="wave">
            <a:avLst/>
          </a:prstGeom>
          <a:solidFill>
            <a:srgbClr val="EC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fixed.deco_line_01"/>
          <p:cNvCxnSpPr/>
          <p:nvPr/>
        </p:nvCxnSpPr>
        <p:spPr>
          <a:xfrm>
            <a:off x="530352" y="2002536"/>
            <a:ext cx="429768" cy="0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ixed.deco_wave_left_0"/>
          <p:cNvCxnSpPr/>
          <p:nvPr/>
        </p:nvCxnSpPr>
        <p:spPr>
          <a:xfrm flipV="1">
            <a:off x="0" y="7680960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ixed.deco_wave_left_1"/>
          <p:cNvCxnSpPr/>
          <p:nvPr/>
        </p:nvCxnSpPr>
        <p:spPr>
          <a:xfrm flipV="1">
            <a:off x="0" y="7854696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ixed.deco_wave_left_2"/>
          <p:cNvCxnSpPr/>
          <p:nvPr/>
        </p:nvCxnSpPr>
        <p:spPr>
          <a:xfrm flipV="1">
            <a:off x="0" y="8028431"/>
            <a:ext cx="2148840" cy="731521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ixed.deco_wave_left_3"/>
          <p:cNvCxnSpPr/>
          <p:nvPr/>
        </p:nvCxnSpPr>
        <p:spPr>
          <a:xfrm flipV="1">
            <a:off x="0" y="8202168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ixed.deco_wave_left_4"/>
          <p:cNvCxnSpPr/>
          <p:nvPr/>
        </p:nvCxnSpPr>
        <p:spPr>
          <a:xfrm flipV="1">
            <a:off x="0" y="8375904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ixed.deco_wave_left_5"/>
          <p:cNvCxnSpPr/>
          <p:nvPr/>
        </p:nvCxnSpPr>
        <p:spPr>
          <a:xfrm flipV="1">
            <a:off x="0" y="8549640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xed.deco_wave_left_6"/>
          <p:cNvCxnSpPr/>
          <p:nvPr/>
        </p:nvCxnSpPr>
        <p:spPr>
          <a:xfrm flipV="1">
            <a:off x="0" y="8723376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fixed.deco_wave_left_7"/>
          <p:cNvCxnSpPr/>
          <p:nvPr/>
        </p:nvCxnSpPr>
        <p:spPr>
          <a:xfrm flipV="1">
            <a:off x="0" y="8897112"/>
            <a:ext cx="2148840" cy="731520"/>
          </a:xfrm>
          <a:prstGeom prst="line">
            <a:avLst/>
          </a:prstGeom>
          <a:ln w="571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ixed.deco_leaf_0"/>
          <p:cNvCxnSpPr/>
          <p:nvPr/>
        </p:nvCxnSpPr>
        <p:spPr>
          <a:xfrm flipV="1">
            <a:off x="2670048" y="685800"/>
            <a:ext cx="347472" cy="182880"/>
          </a:xfrm>
          <a:prstGeom prst="line">
            <a:avLst/>
          </a:prstGeom>
          <a:ln w="6985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ixed.deco_leaf_1"/>
          <p:cNvCxnSpPr/>
          <p:nvPr/>
        </p:nvCxnSpPr>
        <p:spPr>
          <a:xfrm flipV="1">
            <a:off x="2816352" y="594360"/>
            <a:ext cx="347472" cy="219456"/>
          </a:xfrm>
          <a:prstGeom prst="line">
            <a:avLst/>
          </a:prstGeom>
          <a:ln w="6985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ixed.deco_leaf_2"/>
          <p:cNvCxnSpPr/>
          <p:nvPr/>
        </p:nvCxnSpPr>
        <p:spPr>
          <a:xfrm flipV="1">
            <a:off x="2962656" y="502920"/>
            <a:ext cx="347472" cy="256032"/>
          </a:xfrm>
          <a:prstGeom prst="line">
            <a:avLst/>
          </a:prstGeom>
          <a:ln w="6985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ixed.deco_leaf_3"/>
          <p:cNvCxnSpPr/>
          <p:nvPr/>
        </p:nvCxnSpPr>
        <p:spPr>
          <a:xfrm flipV="1">
            <a:off x="3108960" y="411480"/>
            <a:ext cx="347472" cy="292608"/>
          </a:xfrm>
          <a:prstGeom prst="line">
            <a:avLst/>
          </a:prstGeom>
          <a:ln w="6985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ixed.deco_leaf_4"/>
          <p:cNvCxnSpPr/>
          <p:nvPr/>
        </p:nvCxnSpPr>
        <p:spPr>
          <a:xfrm flipV="1">
            <a:off x="3255264" y="320040"/>
            <a:ext cx="347472" cy="329184"/>
          </a:xfrm>
          <a:prstGeom prst="line">
            <a:avLst/>
          </a:prstGeom>
          <a:ln w="6985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ixed.deco_seal_01"/>
          <p:cNvSpPr/>
          <p:nvPr/>
        </p:nvSpPr>
        <p:spPr>
          <a:xfrm>
            <a:off x="658368" y="6318504"/>
            <a:ext cx="292608" cy="292608"/>
          </a:xfrm>
          <a:prstGeom prst="ellipse">
            <a:avLst/>
          </a:prstGeom>
          <a:noFill/>
          <a:ln w="10160">
            <a:solidFill>
              <a:srgbClr val="B69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ixed.deco_red_seal"/>
          <p:cNvSpPr/>
          <p:nvPr/>
        </p:nvSpPr>
        <p:spPr>
          <a:xfrm>
            <a:off x="5888736" y="12024360"/>
            <a:ext cx="173736" cy="219456"/>
          </a:xfrm>
          <a:prstGeom prst="rect">
            <a:avLst/>
          </a:prstGeom>
          <a:solidFill>
            <a:srgbClr val="B84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mage_slot.img_hero"/>
          <p:cNvSpPr/>
          <p:nvPr/>
        </p:nvSpPr>
        <p:spPr>
          <a:xfrm>
            <a:off x="3630168" y="576072"/>
            <a:ext cx="4855464" cy="5367528"/>
          </a:xfrm>
          <a:custGeom>
            <a:avLst/>
            <a:gdLst/>
            <a:ahLst/>
            <a:cxnLst/>
            <a:rect l="l" t="t" r="r" b="b"/>
            <a:pathLst>
              <a:path w="531" h="587">
                <a:moveTo>
                  <a:pt x="0" y="587"/>
                </a:moveTo>
                <a:lnTo>
                  <a:pt x="0" y="266"/>
                </a:lnTo>
                <a:lnTo>
                  <a:pt x="2" y="231"/>
                </a:lnTo>
                <a:lnTo>
                  <a:pt x="9" y="197"/>
                </a:lnTo>
                <a:lnTo>
                  <a:pt x="20" y="164"/>
                </a:lnTo>
                <a:lnTo>
                  <a:pt x="36" y="133"/>
                </a:lnTo>
                <a:lnTo>
                  <a:pt x="55" y="104"/>
                </a:lnTo>
                <a:lnTo>
                  <a:pt x="78" y="78"/>
                </a:lnTo>
                <a:lnTo>
                  <a:pt x="104" y="55"/>
                </a:lnTo>
                <a:lnTo>
                  <a:pt x="133" y="36"/>
                </a:lnTo>
                <a:lnTo>
                  <a:pt x="164" y="20"/>
                </a:lnTo>
                <a:lnTo>
                  <a:pt x="197" y="9"/>
                </a:lnTo>
                <a:lnTo>
                  <a:pt x="231" y="2"/>
                </a:lnTo>
                <a:lnTo>
                  <a:pt x="266" y="0"/>
                </a:lnTo>
                <a:lnTo>
                  <a:pt x="300" y="2"/>
                </a:lnTo>
                <a:lnTo>
                  <a:pt x="334" y="9"/>
                </a:lnTo>
                <a:lnTo>
                  <a:pt x="367" y="20"/>
                </a:lnTo>
                <a:lnTo>
                  <a:pt x="398" y="36"/>
                </a:lnTo>
                <a:lnTo>
                  <a:pt x="427" y="55"/>
                </a:lnTo>
                <a:lnTo>
                  <a:pt x="453" y="78"/>
                </a:lnTo>
                <a:lnTo>
                  <a:pt x="476" y="104"/>
                </a:lnTo>
                <a:lnTo>
                  <a:pt x="495" y="133"/>
                </a:lnTo>
                <a:lnTo>
                  <a:pt x="511" y="164"/>
                </a:lnTo>
                <a:lnTo>
                  <a:pt x="522" y="197"/>
                </a:lnTo>
                <a:lnTo>
                  <a:pt x="529" y="231"/>
                </a:lnTo>
                <a:lnTo>
                  <a:pt x="531" y="266"/>
                </a:lnTo>
                <a:lnTo>
                  <a:pt x="531" y="587"/>
                </a:lnTo>
                <a:close/>
              </a:path>
            </a:pathLst>
          </a:custGeom>
          <a:solidFill>
            <a:srgbClr val="E2D7C6"/>
          </a:solidFill>
          <a:ln w="10160">
            <a:solidFill>
              <a:srgbClr val="BBA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.placeholder_label_img_hero"/>
          <p:cNvSpPr txBox="1"/>
          <p:nvPr/>
        </p:nvSpPr>
        <p:spPr>
          <a:xfrm>
            <a:off x="3739896" y="3145536"/>
            <a:ext cx="463600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6F67"/>
                </a:solidFill>
                <a:latin typeface="Aptos"/>
              </a:rPr>
              <a:t>img_hero</a:t>
            </a:r>
          </a:p>
        </p:txBody>
      </p:sp>
      <p:sp>
        <p:nvSpPr>
          <p:cNvPr id="26" name="image_slot.img_sashimi"/>
          <p:cNvSpPr/>
          <p:nvPr/>
        </p:nvSpPr>
        <p:spPr>
          <a:xfrm>
            <a:off x="429768" y="6876288"/>
            <a:ext cx="2770632" cy="2505456"/>
          </a:xfrm>
          <a:prstGeom prst="roundRect">
            <a:avLst/>
          </a:prstGeom>
          <a:solidFill>
            <a:srgbClr val="E2D7C6"/>
          </a:solidFill>
          <a:ln w="10160">
            <a:solidFill>
              <a:srgbClr val="BBA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.placeholder_label_img_sashimi"/>
          <p:cNvSpPr txBox="1"/>
          <p:nvPr/>
        </p:nvSpPr>
        <p:spPr>
          <a:xfrm>
            <a:off x="539496" y="8019288"/>
            <a:ext cx="255117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6F67"/>
                </a:solidFill>
                <a:latin typeface="Aptos"/>
              </a:rPr>
              <a:t>img_sashimi</a:t>
            </a:r>
          </a:p>
        </p:txBody>
      </p:sp>
      <p:sp>
        <p:nvSpPr>
          <p:cNvPr id="28" name="image_slot.img_chawanmushi"/>
          <p:cNvSpPr/>
          <p:nvPr/>
        </p:nvSpPr>
        <p:spPr>
          <a:xfrm>
            <a:off x="3630168" y="6922008"/>
            <a:ext cx="2587752" cy="3767328"/>
          </a:xfrm>
          <a:prstGeom prst="rect">
            <a:avLst/>
          </a:prstGeom>
          <a:solidFill>
            <a:srgbClr val="E2D7C6"/>
          </a:solidFill>
          <a:ln w="10160">
            <a:solidFill>
              <a:srgbClr val="BBA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.placeholder_label_img_chawanmushi"/>
          <p:cNvSpPr txBox="1"/>
          <p:nvPr/>
        </p:nvSpPr>
        <p:spPr>
          <a:xfrm>
            <a:off x="3739896" y="8695944"/>
            <a:ext cx="236829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6F67"/>
                </a:solidFill>
                <a:latin typeface="Aptos"/>
              </a:rPr>
              <a:t>img_chawanmushi</a:t>
            </a:r>
          </a:p>
        </p:txBody>
      </p:sp>
      <p:sp>
        <p:nvSpPr>
          <p:cNvPr id="30" name="image_slot.img_seasonal"/>
          <p:cNvSpPr/>
          <p:nvPr/>
        </p:nvSpPr>
        <p:spPr>
          <a:xfrm>
            <a:off x="6501384" y="6327648"/>
            <a:ext cx="2761488" cy="1892807"/>
          </a:xfrm>
          <a:prstGeom prst="roundRect">
            <a:avLst/>
          </a:prstGeom>
          <a:solidFill>
            <a:srgbClr val="E2D7C6"/>
          </a:solidFill>
          <a:ln w="10160">
            <a:solidFill>
              <a:srgbClr val="BBA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.placeholder_label_img_seasonal"/>
          <p:cNvSpPr txBox="1"/>
          <p:nvPr/>
        </p:nvSpPr>
        <p:spPr>
          <a:xfrm>
            <a:off x="6611112" y="7159752"/>
            <a:ext cx="254203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6F67"/>
                </a:solidFill>
                <a:latin typeface="Aptos"/>
              </a:rPr>
              <a:t>img_seasonal</a:t>
            </a:r>
          </a:p>
        </p:txBody>
      </p:sp>
      <p:sp>
        <p:nvSpPr>
          <p:cNvPr id="32" name="image_slot.img_chef"/>
          <p:cNvSpPr/>
          <p:nvPr/>
        </p:nvSpPr>
        <p:spPr>
          <a:xfrm>
            <a:off x="6501384" y="8970264"/>
            <a:ext cx="2761488" cy="2112264"/>
          </a:xfrm>
          <a:prstGeom prst="roundRect">
            <a:avLst/>
          </a:prstGeom>
          <a:solidFill>
            <a:srgbClr val="E2D7C6"/>
          </a:solidFill>
          <a:ln w="10160">
            <a:solidFill>
              <a:srgbClr val="BBA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.placeholder_label_img_chef"/>
          <p:cNvSpPr txBox="1"/>
          <p:nvPr/>
        </p:nvSpPr>
        <p:spPr>
          <a:xfrm>
            <a:off x="6611112" y="9912096"/>
            <a:ext cx="254203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6F67"/>
                </a:solidFill>
                <a:latin typeface="Aptos"/>
              </a:rPr>
              <a:t>img_chef</a:t>
            </a:r>
          </a:p>
        </p:txBody>
      </p:sp>
      <p:sp>
        <p:nvSpPr>
          <p:cNvPr id="34" name="editable.txt_location"/>
          <p:cNvSpPr txBox="1"/>
          <p:nvPr/>
        </p:nvSpPr>
        <p:spPr>
          <a:xfrm>
            <a:off x="521207" y="1188720"/>
            <a:ext cx="1325880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E3B33"/>
                </a:solidFill>
                <a:latin typeface="Aptos"/>
              </a:rPr>
              <a:t>C E N T R A L   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E3B33"/>
                </a:solidFill>
                <a:latin typeface="Aptos"/>
              </a:rPr>
              <a:t>S H E U N G   W A N 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E3B33"/>
                </a:solidFill>
                <a:latin typeface="Aptos"/>
              </a:rPr>
              <a:t>H O N G   K O N G</a:t>
            </a:r>
          </a:p>
        </p:txBody>
      </p:sp>
      <p:sp>
        <p:nvSpPr>
          <p:cNvPr id="35" name="editable.txt_headline"/>
          <p:cNvSpPr txBox="1"/>
          <p:nvPr/>
        </p:nvSpPr>
        <p:spPr>
          <a:xfrm>
            <a:off x="502920" y="2331720"/>
            <a:ext cx="2880360" cy="2194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4A523A"/>
                </a:solidFill>
                <a:latin typeface="Garamond"/>
              </a:rPr>
              <a:t>A Quiet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4A523A"/>
                </a:solidFill>
                <a:latin typeface="Garamond"/>
              </a:rPr>
              <a:t>Omakase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4A523A"/>
                </a:solidFill>
                <a:latin typeface="Garamond"/>
              </a:rPr>
              <a:t>Evening</a:t>
            </a:r>
          </a:p>
        </p:txBody>
      </p:sp>
      <p:sp>
        <p:nvSpPr>
          <p:cNvPr id="36" name="editable.txt_jp_left"/>
          <p:cNvSpPr txBox="1"/>
          <p:nvPr/>
        </p:nvSpPr>
        <p:spPr>
          <a:xfrm rot="5400000">
            <a:off x="667512" y="4809744"/>
            <a:ext cx="347472" cy="1197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69C62"/>
                </a:solidFill>
                <a:latin typeface="Noto Serif TC"/>
              </a:rPr>
              <a:t>静かな美味</a:t>
            </a:r>
          </a:p>
        </p:txBody>
      </p:sp>
      <p:sp>
        <p:nvSpPr>
          <p:cNvPr id="37" name="editable.txt_jp_right"/>
          <p:cNvSpPr txBox="1"/>
          <p:nvPr/>
        </p:nvSpPr>
        <p:spPr>
          <a:xfrm rot="5400000">
            <a:off x="8833104" y="3685032"/>
            <a:ext cx="384048" cy="18562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E3B33"/>
                </a:solidFill>
                <a:latin typeface="Noto Serif TC"/>
              </a:rPr>
              <a:t>一期一会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E3B33"/>
                </a:solidFill>
                <a:latin typeface="Noto Serif TC"/>
              </a:rPr>
              <a:t>ICHIGO ICHIE</a:t>
            </a:r>
          </a:p>
        </p:txBody>
      </p:sp>
      <p:cxnSp>
        <p:nvCxnSpPr>
          <p:cNvPr id="38" name="fixed.rule.txt_hero_caption"/>
          <p:cNvCxnSpPr/>
          <p:nvPr/>
        </p:nvCxnSpPr>
        <p:spPr>
          <a:xfrm>
            <a:off x="3666744" y="6181344"/>
            <a:ext cx="0" cy="329184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ditable.txt_hero_caption_title"/>
          <p:cNvSpPr txBox="1"/>
          <p:nvPr/>
        </p:nvSpPr>
        <p:spPr>
          <a:xfrm>
            <a:off x="3794760" y="6163056"/>
            <a:ext cx="2084831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3B33"/>
                </a:solidFill>
                <a:latin typeface="Aptos"/>
              </a:rPr>
              <a:t>O T O R O   N I G I R I</a:t>
            </a:r>
          </a:p>
        </p:txBody>
      </p:sp>
      <p:sp>
        <p:nvSpPr>
          <p:cNvPr id="40" name="editable.txt_hero_caption_body"/>
          <p:cNvSpPr txBox="1"/>
          <p:nvPr/>
        </p:nvSpPr>
        <p:spPr>
          <a:xfrm>
            <a:off x="3794760" y="6373368"/>
            <a:ext cx="2084831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6F67"/>
                </a:solidFill>
                <a:latin typeface="Aptos"/>
              </a:rPr>
              <a:t>s i l k y   •   r i c h   •   m e l t - i n - t h e - m o u t h</a:t>
            </a:r>
          </a:p>
        </p:txBody>
      </p:sp>
      <p:cxnSp>
        <p:nvCxnSpPr>
          <p:cNvPr id="41" name="fixed.rule.txt_sashimi_caption"/>
          <p:cNvCxnSpPr/>
          <p:nvPr/>
        </p:nvCxnSpPr>
        <p:spPr>
          <a:xfrm>
            <a:off x="768096" y="9555480"/>
            <a:ext cx="0" cy="329184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itable.txt_sashimi_caption_title"/>
          <p:cNvSpPr txBox="1"/>
          <p:nvPr/>
        </p:nvSpPr>
        <p:spPr>
          <a:xfrm>
            <a:off x="896112" y="9537192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3B33"/>
                </a:solidFill>
                <a:latin typeface="Aptos"/>
              </a:rPr>
              <a:t>S E A S O N A L   S A S H I M I</a:t>
            </a:r>
          </a:p>
        </p:txBody>
      </p:sp>
      <p:sp>
        <p:nvSpPr>
          <p:cNvPr id="43" name="editable.txt_sashimi_caption_body"/>
          <p:cNvSpPr txBox="1"/>
          <p:nvPr/>
        </p:nvSpPr>
        <p:spPr>
          <a:xfrm>
            <a:off x="896112" y="9747504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6F67"/>
                </a:solidFill>
                <a:latin typeface="Aptos"/>
              </a:rPr>
              <a:t>f r e s h   •   c l e a n   •   b r i n y</a:t>
            </a:r>
          </a:p>
        </p:txBody>
      </p:sp>
      <p:cxnSp>
        <p:nvCxnSpPr>
          <p:cNvPr id="44" name="fixed.rule.txt_chawanmushi_caption"/>
          <p:cNvCxnSpPr/>
          <p:nvPr/>
        </p:nvCxnSpPr>
        <p:spPr>
          <a:xfrm>
            <a:off x="3657600" y="10917936"/>
            <a:ext cx="0" cy="329184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ditable.txt_chawanmushi_caption_title"/>
          <p:cNvSpPr txBox="1"/>
          <p:nvPr/>
        </p:nvSpPr>
        <p:spPr>
          <a:xfrm>
            <a:off x="3785615" y="10899648"/>
            <a:ext cx="25237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3B33"/>
                </a:solidFill>
                <a:latin typeface="Aptos"/>
              </a:rPr>
              <a:t>S I L K E N   C H A W A N M U S H I</a:t>
            </a:r>
          </a:p>
        </p:txBody>
      </p:sp>
      <p:sp>
        <p:nvSpPr>
          <p:cNvPr id="46" name="editable.txt_chawanmushi_caption_body"/>
          <p:cNvSpPr txBox="1"/>
          <p:nvPr/>
        </p:nvSpPr>
        <p:spPr>
          <a:xfrm>
            <a:off x="3785615" y="11109960"/>
            <a:ext cx="25237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6F67"/>
                </a:solidFill>
                <a:latin typeface="Aptos"/>
              </a:rPr>
              <a:t>s m o o t h   •   d e l i c a t e   •   u m a m i</a:t>
            </a:r>
          </a:p>
        </p:txBody>
      </p:sp>
      <p:cxnSp>
        <p:nvCxnSpPr>
          <p:cNvPr id="47" name="fixed.rule.txt_seasonal_caption"/>
          <p:cNvCxnSpPr/>
          <p:nvPr/>
        </p:nvCxnSpPr>
        <p:spPr>
          <a:xfrm>
            <a:off x="6373368" y="8458200"/>
            <a:ext cx="0" cy="329184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ditable.txt_seasonal_caption_title"/>
          <p:cNvSpPr txBox="1"/>
          <p:nvPr/>
        </p:nvSpPr>
        <p:spPr>
          <a:xfrm>
            <a:off x="6501384" y="8439912"/>
            <a:ext cx="24323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3B33"/>
                </a:solidFill>
                <a:latin typeface="Aptos"/>
              </a:rPr>
              <a:t>S E A S O N A L   B I T E</a:t>
            </a:r>
          </a:p>
        </p:txBody>
      </p:sp>
      <p:sp>
        <p:nvSpPr>
          <p:cNvPr id="49" name="editable.txt_seasonal_caption_body"/>
          <p:cNvSpPr txBox="1"/>
          <p:nvPr/>
        </p:nvSpPr>
        <p:spPr>
          <a:xfrm>
            <a:off x="6501384" y="8650224"/>
            <a:ext cx="243230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6F67"/>
                </a:solidFill>
                <a:latin typeface="Aptos"/>
              </a:rPr>
              <a:t>s u b t l e   •   a r o m a t i c   •   r e f i n e d</a:t>
            </a:r>
          </a:p>
        </p:txBody>
      </p:sp>
      <p:cxnSp>
        <p:nvCxnSpPr>
          <p:cNvPr id="50" name="fixed.rule.txt_chef_caption"/>
          <p:cNvCxnSpPr/>
          <p:nvPr/>
        </p:nvCxnSpPr>
        <p:spPr>
          <a:xfrm>
            <a:off x="6373368" y="11292840"/>
            <a:ext cx="0" cy="329184"/>
          </a:xfrm>
          <a:prstGeom prst="line">
            <a:avLst/>
          </a:prstGeom>
          <a:ln w="12700">
            <a:solidFill>
              <a:srgbClr val="B69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ditable.txt_chef_caption_title"/>
          <p:cNvSpPr txBox="1"/>
          <p:nvPr/>
        </p:nvSpPr>
        <p:spPr>
          <a:xfrm>
            <a:off x="6501384" y="11274552"/>
            <a:ext cx="2514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3B33"/>
                </a:solidFill>
                <a:latin typeface="Aptos"/>
              </a:rPr>
              <a:t>C H E F ' S   S E L E C T I O N</a:t>
            </a:r>
          </a:p>
        </p:txBody>
      </p:sp>
      <p:sp>
        <p:nvSpPr>
          <p:cNvPr id="52" name="editable.txt_chef_caption_body"/>
          <p:cNvSpPr txBox="1"/>
          <p:nvPr/>
        </p:nvSpPr>
        <p:spPr>
          <a:xfrm>
            <a:off x="6501384" y="11484864"/>
            <a:ext cx="2514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26F67"/>
                </a:solidFill>
                <a:latin typeface="Aptos"/>
              </a:rPr>
              <a:t>c r e a t i v e   •   l a y e r e d   •   m e m o r a b l e</a:t>
            </a:r>
          </a:p>
        </p:txBody>
      </p:sp>
      <p:sp>
        <p:nvSpPr>
          <p:cNvPr id="53" name="editable.txt_bottom_jp"/>
          <p:cNvSpPr txBox="1"/>
          <p:nvPr/>
        </p:nvSpPr>
        <p:spPr>
          <a:xfrm>
            <a:off x="1005840" y="11036808"/>
            <a:ext cx="1325880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E3B33"/>
                </a:solidFill>
                <a:latin typeface="Noto Serif TC"/>
              </a:rPr>
              <a:t>味わう時間、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E3B33"/>
                </a:solidFill>
                <a:latin typeface="Noto Serif TC"/>
              </a:rPr>
              <a:t>心を整える。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E3B33"/>
                </a:solidFill>
                <a:latin typeface="Noto Serif TC"/>
              </a:rPr>
              <a:t>—</a:t>
            </a:r>
          </a:p>
        </p:txBody>
      </p:sp>
      <p:sp>
        <p:nvSpPr>
          <p:cNvPr id="54" name="editable.txt_footer"/>
          <p:cNvSpPr txBox="1"/>
          <p:nvPr/>
        </p:nvSpPr>
        <p:spPr>
          <a:xfrm>
            <a:off x="3730752" y="12079224"/>
            <a:ext cx="20391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26F67"/>
                </a:solidFill>
                <a:latin typeface="Aptos"/>
              </a:rPr>
              <a:t>G R A T E F U L   F O R   T H E   M O M E N T</a:t>
            </a:r>
          </a:p>
        </p:txBody>
      </p:sp>
      <p:pic>
        <p:nvPicPr>
          <p:cNvPr id="55" name="fixed.deco_wind_chime_raster_blend" descr="wind_chime_ble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-54864"/>
            <a:ext cx="877824" cy="3584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